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Koho Bold" panose="020B0604020202020204" charset="-34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Koho" panose="020B0604020202020204" charset="-34"/>
      <p:regular r:id="rId15"/>
    </p:embeddedFont>
    <p:embeddedFont>
      <p:font typeface="Neo Tech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576" y="8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5368" y="1854204"/>
            <a:ext cx="10884250" cy="453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3"/>
              </a:lnSpc>
            </a:pPr>
            <a:r>
              <a:rPr lang="en-US" sz="9941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SOFTWARE MANAGEMENT SYSTEM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499617" y="-3375063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51067" flipV="1">
            <a:off x="-2014614" y="6215592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0" y="10230242"/>
                </a:moveTo>
                <a:lnTo>
                  <a:pt x="7161169" y="10230242"/>
                </a:lnTo>
                <a:lnTo>
                  <a:pt x="7161169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8" t="-2464" b="-106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964757" y="6908418"/>
            <a:ext cx="8256025" cy="473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9"/>
              </a:lnSpc>
            </a:pPr>
            <a:r>
              <a:rPr lang="en-US" sz="551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Presented by team</a:t>
            </a:r>
          </a:p>
          <a:p>
            <a:pPr algn="l">
              <a:lnSpc>
                <a:spcPts val="4673"/>
              </a:lnSpc>
            </a:pPr>
            <a:r>
              <a:rPr lang="en-US" sz="4099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A. Chandini 26B21AI002</a:t>
            </a:r>
          </a:p>
          <a:p>
            <a:pPr algn="l">
              <a:lnSpc>
                <a:spcPts val="4673"/>
              </a:lnSpc>
            </a:pPr>
            <a:r>
              <a:rPr lang="en-US" sz="4099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B.Reshma    26B21AI012</a:t>
            </a:r>
          </a:p>
          <a:p>
            <a:pPr algn="l">
              <a:lnSpc>
                <a:spcPts val="4673"/>
              </a:lnSpc>
            </a:pPr>
            <a:r>
              <a:rPr lang="en-US" sz="4099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T.Harika      25B11AI982</a:t>
            </a:r>
          </a:p>
          <a:p>
            <a:pPr algn="l">
              <a:lnSpc>
                <a:spcPts val="4673"/>
              </a:lnSpc>
            </a:pPr>
            <a:r>
              <a:rPr lang="en-US" sz="4099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T.Bhargavi  25CB11AIC15</a:t>
            </a:r>
          </a:p>
          <a:p>
            <a:pPr algn="l">
              <a:lnSpc>
                <a:spcPts val="6289"/>
              </a:lnSpc>
            </a:pPr>
            <a:endParaRPr lang="en-US" sz="4099" b="1">
              <a:solidFill>
                <a:srgbClr val="005FC2"/>
              </a:solidFill>
              <a:latin typeface="Koho Bold"/>
              <a:ea typeface="Koho Bold"/>
              <a:cs typeface="Koho Bold"/>
              <a:sym typeface="Koho Bold"/>
            </a:endParaRPr>
          </a:p>
          <a:p>
            <a:pPr algn="l">
              <a:lnSpc>
                <a:spcPts val="6289"/>
              </a:lnSpc>
            </a:pPr>
            <a:endParaRPr lang="en-US" sz="4099" b="1">
              <a:solidFill>
                <a:srgbClr val="005FC2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32471" y="8715627"/>
            <a:ext cx="458772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37"/>
              </a:lnSpc>
              <a:spcBef>
                <a:spcPct val="0"/>
              </a:spcBef>
            </a:pPr>
            <a:r>
              <a:rPr lang="en-US" sz="3716" b="1" dirty="0" err="1" smtClean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Department:AI&amp;ML</a:t>
            </a:r>
            <a:endParaRPr lang="en-US" sz="3716" b="1" dirty="0">
              <a:solidFill>
                <a:srgbClr val="005FC2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048000" y="6354967"/>
            <a:ext cx="8226946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3600" b="1" dirty="0" smtClean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 Team </a:t>
            </a:r>
            <a:r>
              <a:rPr lang="en-US" sz="3600" b="1" dirty="0" smtClean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numbe</a:t>
            </a:r>
            <a:r>
              <a:rPr lang="en-US" sz="3600" b="1" dirty="0" smtClean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r 7</a:t>
            </a:r>
          </a:p>
          <a:p>
            <a:pPr algn="ctr">
              <a:lnSpc>
                <a:spcPts val="5263"/>
              </a:lnSpc>
            </a:pPr>
            <a:r>
              <a:rPr lang="en-US" sz="4616" b="1" dirty="0" smtClean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Under </a:t>
            </a:r>
            <a:r>
              <a:rPr lang="en-US" sz="4616" b="1" dirty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the guidance</a:t>
            </a:r>
          </a:p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4616" b="1" dirty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G L </a:t>
            </a:r>
            <a:r>
              <a:rPr lang="en-US" sz="4616" b="1" dirty="0" err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Narasamba</a:t>
            </a:r>
            <a:r>
              <a:rPr lang="en-US" sz="4616" b="1" dirty="0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 </a:t>
            </a:r>
            <a:r>
              <a:rPr lang="en-US" sz="4616" b="1" dirty="0" err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Vanguri</a:t>
            </a:r>
            <a:endParaRPr lang="en-US" sz="4616" b="1" dirty="0">
              <a:solidFill>
                <a:srgbClr val="005FC2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0152" y="1599682"/>
            <a:ext cx="10894849" cy="114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6"/>
              </a:lnSpc>
            </a:pPr>
            <a:r>
              <a:rPr lang="en-US" sz="69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25563" y="2908297"/>
            <a:ext cx="13462437" cy="688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Organizations use multiple software applications for development, testing, designing, communication, and other activities. Managing software information, licenses, installations, and employee requests manually can lead to: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Difficulty in tracking software installations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License expiry and renewal issues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Duplicate or unauthorized software usage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Difficulty managing software requests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Lack of centralized software information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Time-consuming manual record maintenance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Solution:</a:t>
            </a:r>
          </a:p>
          <a:p>
            <a:pPr algn="l">
              <a:lnSpc>
                <a:spcPts val="3916"/>
              </a:lnSpc>
            </a:pPr>
            <a:r>
              <a:rPr lang="en-US" sz="3435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The proposed Software Management System provides a centralized database to manage software, employees, licenses, installations, departments, and software requests efficiently</a:t>
            </a:r>
          </a:p>
        </p:txBody>
      </p:sp>
      <p:sp>
        <p:nvSpPr>
          <p:cNvPr id="4" name="Freeform 4"/>
          <p:cNvSpPr/>
          <p:nvPr/>
        </p:nvSpPr>
        <p:spPr>
          <a:xfrm>
            <a:off x="-93537" y="0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8" t="-2464" b="-1060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-5403596" y="6887742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1437" y="1325399"/>
            <a:ext cx="10894849" cy="102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8"/>
              </a:lnSpc>
            </a:pPr>
            <a:r>
              <a:rPr lang="en-US" sz="62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52026" y="2582318"/>
            <a:ext cx="10894849" cy="738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maintain centralized software information.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manage employee and department details.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track software licenses and expiry dates.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maintain software installation records.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manage employee software requests.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establish relationships between different entities.</a:t>
            </a:r>
          </a:p>
          <a:p>
            <a:pPr algn="just">
              <a:lnSpc>
                <a:spcPts val="3921"/>
              </a:lnSpc>
            </a:pPr>
            <a:endParaRPr lang="en-US" sz="3439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provide accurate and organized database records</a:t>
            </a: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  <a:p>
            <a:pPr algn="just">
              <a:lnSpc>
                <a:spcPts val="3921"/>
              </a:lnSpc>
            </a:pPr>
            <a:r>
              <a:rPr lang="en-US" sz="343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To support future reporting and software management.</a:t>
            </a:r>
          </a:p>
        </p:txBody>
      </p:sp>
      <p:sp>
        <p:nvSpPr>
          <p:cNvPr id="4" name="Freeform 4"/>
          <p:cNvSpPr/>
          <p:nvPr/>
        </p:nvSpPr>
        <p:spPr>
          <a:xfrm rot="-7720815">
            <a:off x="-5386022" y="56356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367064" flipH="1">
            <a:off x="10341117" y="-15858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03967" y="2572793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53781" y="9510045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03967" y="4649078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03967" y="5645108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03967" y="7637168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03967" y="8633198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03967" y="3573239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03967" y="6641138"/>
            <a:ext cx="776955" cy="776955"/>
          </a:xfrm>
          <a:custGeom>
            <a:avLst/>
            <a:gdLst/>
            <a:ahLst/>
            <a:cxnLst/>
            <a:rect l="l" t="t" r="r" b="b"/>
            <a:pathLst>
              <a:path w="776955" h="776955">
                <a:moveTo>
                  <a:pt x="0" y="0"/>
                </a:moveTo>
                <a:lnTo>
                  <a:pt x="776955" y="0"/>
                </a:lnTo>
                <a:lnTo>
                  <a:pt x="776955" y="776955"/>
                </a:lnTo>
                <a:lnTo>
                  <a:pt x="0" y="77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17330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68" t="-2464" b="-106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13006" y="1848038"/>
            <a:ext cx="15288707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4800" b="1" dirty="0" smtClean="0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ENTITIES &amp; THEIR ATTRBUTES</a:t>
            </a:r>
            <a:endParaRPr lang="en-US" sz="4800" b="1" dirty="0">
              <a:solidFill>
                <a:srgbClr val="005FC2"/>
              </a:solidFill>
              <a:latin typeface="Neo Tech Bold"/>
              <a:ea typeface="Neo Tech Bold"/>
              <a:cs typeface="Neo Tech Bold"/>
              <a:sym typeface="Neo Tech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26621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8" t="-2464" b="-1060"/>
            </a:stretch>
          </a:blipFill>
        </p:spPr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9600"/>
              </p:ext>
            </p:extLst>
          </p:nvPr>
        </p:nvGraphicFramePr>
        <p:xfrm>
          <a:off x="1676401" y="2743860"/>
          <a:ext cx="15011400" cy="6819240"/>
        </p:xfrm>
        <a:graphic>
          <a:graphicData uri="http://schemas.openxmlformats.org/drawingml/2006/table">
            <a:tbl>
              <a:tblPr/>
              <a:tblGrid>
                <a:gridCol w="5003800">
                  <a:extLst>
                    <a:ext uri="{9D8B030D-6E8A-4147-A177-3AD203B41FA5}">
                      <a16:colId xmlns:a16="http://schemas.microsoft.com/office/drawing/2014/main" val="398232703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2238428443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1126389141"/>
                    </a:ext>
                  </a:extLst>
                </a:gridCol>
              </a:tblGrid>
              <a:tr h="584688"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Entity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Primary Key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Important Attributes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270763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Client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Client_ID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Name, Email, Phone, Company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335608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Employee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Employee_ID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Name, Email, Phone, Designation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58374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Department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Department_ID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Department_Name, Location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922512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</a:rPr>
                        <a:t>Project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Project_ID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Project_Name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Start_Date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End_Date</a:t>
                      </a:r>
                      <a:r>
                        <a:rPr lang="en-US" sz="1400" dirty="0">
                          <a:effectLst/>
                        </a:rPr>
                        <a:t>, Status, Budget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17765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Task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Task_ID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Task_Name</a:t>
                      </a:r>
                      <a:r>
                        <a:rPr lang="en-IN" sz="1400" dirty="0">
                          <a:effectLst/>
                        </a:rPr>
                        <a:t>, Description, </a:t>
                      </a:r>
                      <a:r>
                        <a:rPr lang="en-IN" sz="1400" dirty="0" err="1">
                          <a:effectLst/>
                        </a:rPr>
                        <a:t>Due_Date</a:t>
                      </a:r>
                      <a:r>
                        <a:rPr lang="en-IN" sz="1400" dirty="0">
                          <a:effectLst/>
                        </a:rPr>
                        <a:t>, Status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510135"/>
                  </a:ext>
                </a:extLst>
              </a:tr>
              <a:tr h="58468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Technology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Technology_ID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Technology_Name, Version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052122"/>
                  </a:ext>
                </a:extLst>
              </a:tr>
              <a:tr h="74674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Software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Software_ID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Software_Name, Version, License, Cost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104425"/>
                  </a:ext>
                </a:extLst>
              </a:tr>
              <a:tr h="58468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Project_Employee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Project_ID</a:t>
                      </a:r>
                      <a:r>
                        <a:rPr lang="en-IN" sz="1400" dirty="0">
                          <a:effectLst/>
                        </a:rPr>
                        <a:t> + </a:t>
                      </a:r>
                      <a:r>
                        <a:rPr lang="en-IN" sz="1400" dirty="0" err="1">
                          <a:effectLst/>
                        </a:rPr>
                        <a:t>Employee_ID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Role, Assigned_Date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193529"/>
                  </a:ext>
                </a:extLst>
              </a:tr>
              <a:tr h="584688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</a:rPr>
                        <a:t>Project_Technology</a:t>
                      </a: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Project_ID</a:t>
                      </a:r>
                      <a:r>
                        <a:rPr lang="en-IN" sz="1400" dirty="0">
                          <a:effectLst/>
                        </a:rPr>
                        <a:t> + </a:t>
                      </a:r>
                      <a:r>
                        <a:rPr lang="en-IN" sz="1400" dirty="0" err="1">
                          <a:effectLst/>
                        </a:rPr>
                        <a:t>Technology_ID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effectLst/>
                        </a:rPr>
                        <a:t>Usage_Type</a:t>
                      </a:r>
                      <a:endParaRPr lang="en-IN" sz="1400" dirty="0">
                        <a:effectLst/>
                      </a:endParaRPr>
                    </a:p>
                  </a:txBody>
                  <a:tcPr marL="71225" marR="71225" marT="35612" marB="3561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2792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6918183" y="4546244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5"/>
                </a:lnTo>
                <a:lnTo>
                  <a:pt x="0" y="724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2384810" y="2397377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184999" y="1767958"/>
            <a:ext cx="9615222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000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ER DIAGRAMS</a:t>
            </a:r>
          </a:p>
        </p:txBody>
      </p:sp>
      <p:sp>
        <p:nvSpPr>
          <p:cNvPr id="5" name="Freeform 5"/>
          <p:cNvSpPr/>
          <p:nvPr/>
        </p:nvSpPr>
        <p:spPr>
          <a:xfrm>
            <a:off x="237570" y="213242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6"/>
                </a:lnTo>
                <a:lnTo>
                  <a:pt x="0" y="1630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8" t="-2464" b="-106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46558" y="2606159"/>
            <a:ext cx="13284473" cy="8005358"/>
          </a:xfrm>
          <a:custGeom>
            <a:avLst/>
            <a:gdLst/>
            <a:ahLst/>
            <a:cxnLst/>
            <a:rect l="l" t="t" r="r" b="b"/>
            <a:pathLst>
              <a:path w="13284473" h="8005358">
                <a:moveTo>
                  <a:pt x="0" y="0"/>
                </a:moveTo>
                <a:lnTo>
                  <a:pt x="13284473" y="0"/>
                </a:lnTo>
                <a:lnTo>
                  <a:pt x="13284473" y="8005358"/>
                </a:lnTo>
                <a:lnTo>
                  <a:pt x="0" y="8005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183" r="-683" b="-2202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6918183" y="5888904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0641" y="1561704"/>
            <a:ext cx="11557428" cy="68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4100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RELATIONAL DATABASE SCHEMA</a:t>
            </a:r>
          </a:p>
        </p:txBody>
      </p:sp>
      <p:sp>
        <p:nvSpPr>
          <p:cNvPr id="4" name="Freeform 4"/>
          <p:cNvSpPr/>
          <p:nvPr/>
        </p:nvSpPr>
        <p:spPr>
          <a:xfrm>
            <a:off x="12348070" y="-200375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5"/>
                </a:lnTo>
                <a:lnTo>
                  <a:pt x="0" y="724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35" y="51596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5" y="0"/>
                </a:lnTo>
                <a:lnTo>
                  <a:pt x="5230735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8" t="-2464" b="-106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29103" y="2246997"/>
            <a:ext cx="14630197" cy="7803602"/>
          </a:xfrm>
          <a:custGeom>
            <a:avLst/>
            <a:gdLst/>
            <a:ahLst/>
            <a:cxnLst/>
            <a:rect l="l" t="t" r="r" b="b"/>
            <a:pathLst>
              <a:path w="14630197" h="7803602">
                <a:moveTo>
                  <a:pt x="0" y="0"/>
                </a:moveTo>
                <a:lnTo>
                  <a:pt x="14630197" y="0"/>
                </a:lnTo>
                <a:lnTo>
                  <a:pt x="14630197" y="7803602"/>
                </a:lnTo>
                <a:lnTo>
                  <a:pt x="0" y="7803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19" t="-22901" r="-3012" b="-8623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8965" y="2720671"/>
            <a:ext cx="14100350" cy="4864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A Primary Key (PK) uniquely</a:t>
            </a:r>
          </a:p>
          <a:p>
            <a:pPr algn="l">
              <a:lnSpc>
                <a:spcPts val="3891"/>
              </a:lnSpc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 identifies each record in a table.</a:t>
            </a:r>
          </a:p>
          <a:p>
            <a:pPr algn="l">
              <a:lnSpc>
                <a:spcPts val="3891"/>
              </a:lnSpc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Examples: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Client_ID → Client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Employee_ID → Employee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Project_ID → Project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Task_ID → Task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Technology_ID → Technology</a:t>
            </a:r>
          </a:p>
          <a:p>
            <a:pPr marL="736908" lvl="1" indent="-368454" algn="l">
              <a:lnSpc>
                <a:spcPts val="3891"/>
              </a:lnSpc>
              <a:buFont typeface="Arial"/>
              <a:buChar char="•"/>
            </a:pPr>
            <a:r>
              <a:rPr lang="en-US" sz="341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Software_ID → Software</a:t>
            </a:r>
          </a:p>
          <a:p>
            <a:pPr algn="l">
              <a:lnSpc>
                <a:spcPts val="3891"/>
              </a:lnSpc>
            </a:pPr>
            <a:endParaRPr lang="en-US" sz="341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3" name="Freeform 3"/>
          <p:cNvSpPr/>
          <p:nvPr/>
        </p:nvSpPr>
        <p:spPr>
          <a:xfrm rot="-10149532" flipH="1">
            <a:off x="-1827507" y="750949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3883"/>
            <a:ext cx="1089484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0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PRIMARY KEY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05290" y="2711146"/>
            <a:ext cx="7432279" cy="75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A Foreign Key (FK) connects one table with another table.</a:t>
            </a: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Examples: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Employee.Department_ID → Department.Department_ID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Project.Client_ID → Client.Client_ID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Task.Project_ID → Project.Project_ID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Software.Project_ID → Project.Project_ID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For M:N relationships: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Project_Employee</a:t>
            </a: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Project_ID → Project</a:t>
            </a: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Employee_ID → Employee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Project_Technology</a:t>
            </a: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Project_ID → Project</a:t>
            </a:r>
          </a:p>
          <a:p>
            <a:pPr algn="l">
              <a:lnSpc>
                <a:spcPts val="2717"/>
              </a:lnSpc>
            </a:pPr>
            <a:r>
              <a:rPr lang="en-US" sz="2383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Technology_ID → Technology</a:t>
            </a:r>
          </a:p>
          <a:p>
            <a:pPr algn="l">
              <a:lnSpc>
                <a:spcPts val="2717"/>
              </a:lnSpc>
            </a:pPr>
            <a:endParaRPr lang="en-US" sz="2383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776339" y="1823883"/>
            <a:ext cx="1089484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0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FOREIGN KEY</a:t>
            </a:r>
          </a:p>
        </p:txBody>
      </p:sp>
      <p:sp>
        <p:nvSpPr>
          <p:cNvPr id="7" name="Freeform 7"/>
          <p:cNvSpPr/>
          <p:nvPr/>
        </p:nvSpPr>
        <p:spPr>
          <a:xfrm>
            <a:off x="-65324" y="33615"/>
            <a:ext cx="5230736" cy="1630917"/>
          </a:xfrm>
          <a:custGeom>
            <a:avLst/>
            <a:gdLst/>
            <a:ahLst/>
            <a:cxnLst/>
            <a:rect l="l" t="t" r="r" b="b"/>
            <a:pathLst>
              <a:path w="5230736" h="1630917">
                <a:moveTo>
                  <a:pt x="0" y="0"/>
                </a:moveTo>
                <a:lnTo>
                  <a:pt x="5230736" y="0"/>
                </a:lnTo>
                <a:lnTo>
                  <a:pt x="5230736" y="1630917"/>
                </a:lnTo>
                <a:lnTo>
                  <a:pt x="0" y="1630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8" t="-2464" b="-106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22833" y="3629195"/>
            <a:ext cx="9842334" cy="208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71"/>
              </a:lnSpc>
            </a:pPr>
            <a:r>
              <a:rPr lang="en-US" sz="12606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499617" y="-3375063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51067" flipV="1">
            <a:off x="-1812924" y="4400378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25238" y="-1294162"/>
            <a:ext cx="7793442" cy="4080930"/>
          </a:xfrm>
          <a:custGeom>
            <a:avLst/>
            <a:gdLst/>
            <a:ahLst/>
            <a:cxnLst/>
            <a:rect l="l" t="t" r="r" b="b"/>
            <a:pathLst>
              <a:path w="7793442" h="4080930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94558" y="7817332"/>
            <a:ext cx="7793442" cy="4080930"/>
          </a:xfrm>
          <a:custGeom>
            <a:avLst/>
            <a:gdLst/>
            <a:ahLst/>
            <a:cxnLst/>
            <a:rect l="l" t="t" r="r" b="b"/>
            <a:pathLst>
              <a:path w="7793442" h="4080930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</Words>
  <Application>Microsoft Office PowerPoint</Application>
  <PresentationFormat>Custom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Koho Bold</vt:lpstr>
      <vt:lpstr>Calibri</vt:lpstr>
      <vt:lpstr>Koho</vt:lpstr>
      <vt:lpstr>Neo Tech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Minimalist Software Development Proposal Presentation</dc:title>
  <dc:creator>Akula chandini</dc:creator>
  <cp:lastModifiedBy>user</cp:lastModifiedBy>
  <cp:revision>3</cp:revision>
  <dcterms:created xsi:type="dcterms:W3CDTF">2006-08-16T00:00:00Z</dcterms:created>
  <dcterms:modified xsi:type="dcterms:W3CDTF">2026-08-13T05:43:20Z</dcterms:modified>
  <dc:identifier>DAHRqjvtCoQ</dc:identifier>
</cp:coreProperties>
</file>